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54864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Physical AI PoC 제안</a:t>
            </a:r>
          </a:p>
          <a:p>
            <a:r>
              <a:rPr sz="2200" b="1" i="0">
                <a:solidFill>
                  <a:srgbClr val="76B900"/>
                </a:solidFill>
                <a:latin typeface="Malgun Gothic"/>
                <a:ea typeface="Malgun Gothic"/>
                <a:cs typeface="Malgun Gothic"/>
              </a:rPr>
              <a:t>가상공장에서 스스로 판단·행동하는 AI 에이전트</a:t>
            </a:r>
          </a:p>
          <a:p>
            <a:pPr>
              <a:spcBef>
                <a:spcPts val="1000"/>
              </a:spcBef>
            </a:pPr>
            <a:r>
              <a:rPr sz="1600" b="0" i="0">
                <a:solidFill>
                  <a:srgbClr val="CCCCCC"/>
                </a:solidFill>
                <a:latin typeface="Malgun Gothic"/>
                <a:ea typeface="Malgun Gothic"/>
                <a:cs typeface="Malgun Gothic"/>
              </a:rPr>
              <a:t>제조 조립 라인 이상감지·대응 에이전트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7200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 i="0">
                <a:solidFill>
                  <a:srgbClr val="76B900"/>
                </a:solidFill>
                <a:latin typeface="Malgun Gothic"/>
                <a:ea typeface="Malgun Gothic"/>
                <a:cs typeface="Malgun Gothic"/>
              </a:rPr>
              <a:t>VPK</a:t>
            </a:r>
          </a:p>
          <a:p>
            <a:r>
              <a:rPr sz="1300" b="0" i="0">
                <a:solidFill>
                  <a:srgbClr val="BBBBBB"/>
                </a:solidFill>
                <a:latin typeface="Malgun Gothic"/>
                <a:ea typeface="Malgun Gothic"/>
                <a:cs typeface="Malgun Gothic"/>
              </a:rPr>
              <a:t>PLM기술팀  김성훈</a:t>
            </a:r>
          </a:p>
          <a:p>
            <a:r>
              <a:rPr sz="1300" b="0" i="0">
                <a:solidFill>
                  <a:srgbClr val="BBBBBB"/>
                </a:solidFill>
                <a:latin typeface="Malgun Gothic"/>
                <a:ea typeface="Malgun Gothic"/>
                <a:cs typeface="Malgun Gothic"/>
              </a:rPr>
              <a:t>보고일: 미정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 i="0">
                <a:solidFill>
                  <a:srgbClr val="2B2B2B"/>
                </a:solidFill>
                <a:latin typeface="Malgun Gothic"/>
                <a:ea typeface="Malgun Gothic"/>
                <a:cs typeface="Malgun Gothic"/>
              </a:rPr>
              <a:t>한 줄 요약</a:t>
            </a:r>
          </a:p>
          <a:p>
            <a:r>
              <a:rPr sz="1300" b="1" i="0">
                <a:solidFill>
                  <a:srgbClr val="76B900"/>
                </a:solidFill>
                <a:latin typeface="Malgun Gothic"/>
                <a:ea typeface="Malgun Gothic"/>
                <a:cs typeface="Malgun Gothic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707070"/>
                </a:solidFill>
                <a:latin typeface="Malgun Gothic"/>
                <a:ea typeface="Malgun Gothic"/>
                <a:cs typeface="Malgun Gothic"/>
              </a:rPr>
              <a:t>VPK  ·  PLM기술팀  김성훈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103120"/>
            <a:ext cx="10515600" cy="2011680"/>
          </a:xfrm>
          <a:prstGeom prst="rect">
            <a:avLst/>
          </a:prstGeom>
          <a:solidFill>
            <a:srgbClr val="F3F7EA"/>
          </a:solidFill>
          <a:ln w="19050">
            <a:solidFill>
              <a:srgbClr val="76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286000"/>
            <a:ext cx="978408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1" i="0">
                <a:solidFill>
                  <a:srgbClr val="2B2B2B"/>
                </a:solidFill>
                <a:latin typeface="Malgun Gothic"/>
                <a:ea typeface="Malgun Gothic"/>
                <a:cs typeface="Malgun Gothic"/>
              </a:rPr>
              <a:t>디지털 트윈(가상공장) 안에서 조립 라인의 이상을 스스로 감지하고,
종류에 따라 대응까지 결정하는 AI 에이전트를 직접 구축합니다.</a:t>
            </a:r>
          </a:p>
          <a:p>
            <a:pPr>
              <a:spcBef>
                <a:spcPts val="1200"/>
              </a:spcBef>
            </a:pPr>
            <a:r>
              <a:rPr sz="1700" b="1" i="0">
                <a:solidFill>
                  <a:srgbClr val="76B900"/>
                </a:solidFill>
                <a:latin typeface="Malgun Gothic"/>
                <a:ea typeface="Malgun Gothic"/>
                <a:cs typeface="Malgun Gothic"/>
              </a:rPr>
              <a:t>→ 6개월 내 '직접 만든 Physical AI' 동작 PoC 시연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 i="0">
                <a:solidFill>
                  <a:srgbClr val="2B2B2B"/>
                </a:solidFill>
                <a:latin typeface="Malgun Gothic"/>
                <a:ea typeface="Malgun Gothic"/>
                <a:cs typeface="Malgun Gothic"/>
              </a:rPr>
              <a:t>배경 — 왜 지금인가</a:t>
            </a:r>
          </a:p>
          <a:p>
            <a:r>
              <a:rPr sz="1300" b="1" i="0">
                <a:solidFill>
                  <a:srgbClr val="76B900"/>
                </a:solidFill>
                <a:latin typeface="Malgun Gothic"/>
                <a:ea typeface="Malgun Gothic"/>
                <a:cs typeface="Malgun Gothic"/>
              </a:rPr>
              <a:t>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707070"/>
                </a:solidFill>
                <a:latin typeface="Malgun Gothic"/>
                <a:ea typeface="Malgun Gothic"/>
                <a:cs typeface="Malgun Gothic"/>
              </a:rPr>
              <a:t>VPK  ·  PLM기술팀  김성훈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76B900"/>
                </a:solidFill>
                <a:latin typeface="Malgun Gothic"/>
                <a:ea typeface="Malgun Gothic"/>
                <a:cs typeface="Malgun Gothic"/>
              </a:rPr>
              <a:t>■ </a:t>
            </a:r>
            <a:r>
              <a:rPr sz="1600" b="1" i="0">
                <a:solidFill>
                  <a:srgbClr val="2B2B2B"/>
                </a:solidFill>
                <a:latin typeface="Malgun Gothic"/>
                <a:ea typeface="Malgun Gothic"/>
                <a:cs typeface="Malgun Gothic"/>
              </a:rPr>
              <a:t>Physical AI(인지·판단·행동하는 AI)가 제조업의 다음 경쟁축으로 부상</a:t>
            </a:r>
          </a:p>
          <a:p>
            <a:pPr lvl="1">
              <a:spcAft>
                <a:spcPts val="1000"/>
              </a:spcAft>
            </a:pPr>
            <a:r>
              <a:rPr sz="1600" b="1" i="0">
                <a:solidFill>
                  <a:srgbClr val="707070"/>
                </a:solidFill>
                <a:latin typeface="Malgun Gothic"/>
                <a:ea typeface="Malgun Gothic"/>
                <a:cs typeface="Malgun Gothic"/>
              </a:rPr>
              <a:t>– </a:t>
            </a:r>
            <a:r>
              <a:rPr sz="1400" b="0" i="0">
                <a:solidFill>
                  <a:srgbClr val="707070"/>
                </a:solidFill>
                <a:latin typeface="Malgun Gothic"/>
                <a:ea typeface="Malgun Gothic"/>
                <a:cs typeface="Malgun Gothic"/>
              </a:rPr>
              <a:t>NVIDIA Omniverse·Isaac 생태계 중심으로 빠르게 표준화 중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76B900"/>
                </a:solidFill>
                <a:latin typeface="Malgun Gothic"/>
                <a:ea typeface="Malgun Gothic"/>
                <a:cs typeface="Malgun Gothic"/>
              </a:rPr>
              <a:t>■ </a:t>
            </a:r>
            <a:r>
              <a:rPr sz="1600" b="1" i="0">
                <a:solidFill>
                  <a:srgbClr val="2B2B2B"/>
                </a:solidFill>
                <a:latin typeface="Malgun Gothic"/>
                <a:ea typeface="Malgun Gothic"/>
                <a:cs typeface="Malgun Gothic"/>
              </a:rPr>
              <a:t>VPK는 이미 디지털 트윈(가상공장) 자산을 보유 — 출발점에서 앞선 위치</a:t>
            </a:r>
          </a:p>
          <a:p>
            <a:pPr lvl="1">
              <a:spcAft>
                <a:spcPts val="1000"/>
              </a:spcAft>
            </a:pPr>
            <a:r>
              <a:rPr sz="1600" b="1" i="0">
                <a:solidFill>
                  <a:srgbClr val="707070"/>
                </a:solidFill>
                <a:latin typeface="Malgun Gothic"/>
                <a:ea typeface="Malgun Gothic"/>
                <a:cs typeface="Malgun Gothic"/>
              </a:rPr>
              <a:t>– </a:t>
            </a:r>
            <a:r>
              <a:rPr sz="1400" b="0" i="0">
                <a:solidFill>
                  <a:srgbClr val="707070"/>
                </a:solidFill>
                <a:latin typeface="Malgun Gothic"/>
                <a:ea typeface="Malgun Gothic"/>
                <a:cs typeface="Malgun Gothic"/>
              </a:rPr>
              <a:t>단, 트윈이 '보는 것'에 머물면 가치가 제한됨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76B900"/>
                </a:solidFill>
                <a:latin typeface="Malgun Gothic"/>
                <a:ea typeface="Malgun Gothic"/>
                <a:cs typeface="Malgun Gothic"/>
              </a:rPr>
              <a:t>■ </a:t>
            </a:r>
            <a:r>
              <a:rPr sz="1600" b="1" i="0">
                <a:solidFill>
                  <a:srgbClr val="2B2B2B"/>
                </a:solidFill>
                <a:latin typeface="Malgun Gothic"/>
                <a:ea typeface="Malgun Gothic"/>
                <a:cs typeface="Malgun Gothic"/>
              </a:rPr>
              <a:t>트윈 위에 '판단하고 행동하는 지능'을 얹을 때 비로소 차별화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76B900"/>
                </a:solidFill>
                <a:latin typeface="Malgun Gothic"/>
                <a:ea typeface="Malgun Gothic"/>
                <a:cs typeface="Malgun Gothic"/>
              </a:rPr>
              <a:t>■ </a:t>
            </a:r>
            <a:r>
              <a:rPr sz="1600" b="1" i="0">
                <a:solidFill>
                  <a:srgbClr val="C0392B"/>
                </a:solidFill>
                <a:latin typeface="Malgun Gothic"/>
                <a:ea typeface="Malgun Gothic"/>
                <a:cs typeface="Malgun Gothic"/>
              </a:rPr>
              <a:t>리스크: 관심만 있고 착수하지 않으면 시장에 끌려가는 입장</a:t>
            </a:r>
          </a:p>
          <a:p>
            <a:pPr lvl="1">
              <a:spcAft>
                <a:spcPts val="1000"/>
              </a:spcAft>
            </a:pPr>
            <a:r>
              <a:rPr sz="1600" b="1" i="0">
                <a:solidFill>
                  <a:srgbClr val="707070"/>
                </a:solidFill>
                <a:latin typeface="Malgun Gothic"/>
                <a:ea typeface="Malgun Gothic"/>
                <a:cs typeface="Malgun Gothic"/>
              </a:rPr>
              <a:t>– </a:t>
            </a:r>
            <a:r>
              <a:rPr sz="1400" b="0" i="0">
                <a:solidFill>
                  <a:srgbClr val="707070"/>
                </a:solidFill>
                <a:latin typeface="Malgun Gothic"/>
                <a:ea typeface="Malgun Gothic"/>
                <a:cs typeface="Malgun Gothic"/>
              </a:rPr>
              <a:t>작더라도 '직접 만든 PoC'가 가장 확실한 대응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 i="0">
                <a:solidFill>
                  <a:srgbClr val="2B2B2B"/>
                </a:solidFill>
                <a:latin typeface="Malgun Gothic"/>
                <a:ea typeface="Malgun Gothic"/>
                <a:cs typeface="Malgun Gothic"/>
              </a:rPr>
              <a:t>제안 — 무엇을 만드는가</a:t>
            </a:r>
          </a:p>
          <a:p>
            <a:r>
              <a:rPr sz="1300" b="1" i="0">
                <a:solidFill>
                  <a:srgbClr val="76B900"/>
                </a:solidFill>
                <a:latin typeface="Malgun Gothic"/>
                <a:ea typeface="Malgun Gothic"/>
                <a:cs typeface="Malgun Gothic"/>
              </a:rPr>
              <a:t>조립 라인 이상감지·대응 에이전트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707070"/>
                </a:solidFill>
                <a:latin typeface="Malgun Gothic"/>
                <a:ea typeface="Malgun Gothic"/>
                <a:cs typeface="Malgun Gothic"/>
              </a:rPr>
              <a:t>VPK  ·  PLM기술팀  김성훈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28800"/>
          <a:ext cx="10515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841248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단계</a:t>
                      </a:r>
                    </a:p>
                  </a:txBody>
                  <a:tcPr anchor="ctr" marT="38100" marB="38100">
                    <a:solidFill>
                      <a:srgbClr val="76B9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동작</a:t>
                      </a:r>
                    </a:p>
                  </a:txBody>
                  <a:tcPr anchor="ctr" marT="38100" marB="38100">
                    <a:solidFill>
                      <a:srgbClr val="76B900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B2B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① 인지</a:t>
                      </a:r>
                    </a:p>
                  </a:txBody>
                  <a:tcPr anchor="ctr" marT="38100" marB="38100">
                    <a:solidFill>
                      <a:srgbClr val="F3F7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B2B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조립 라인 카메라 영상을 실시간 감시</a:t>
                      </a:r>
                    </a:p>
                  </a:txBody>
                  <a:tcPr anchor="ctr" marT="38100" marB="38100">
                    <a:solidFill>
                      <a:srgbClr val="F3F7E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B2B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② 판단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B2B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정상 패턴 학습 → 이상(부품 누락·오부착·위치이탈) 감지·분류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B2B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③ 행동</a:t>
                      </a:r>
                    </a:p>
                  </a:txBody>
                  <a:tcPr anchor="ctr" marT="38100" marB="38100">
                    <a:solidFill>
                      <a:srgbClr val="F3F7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B2B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이상의 종류·심각도에 따라 대응을 스스로 선택</a:t>
                      </a:r>
                    </a:p>
                  </a:txBody>
                  <a:tcPr anchor="ctr" marT="38100" marB="38100">
                    <a:solidFill>
                      <a:srgbClr val="F3F7E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4480560"/>
            <a:ext cx="105156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700" b="0" i="0">
                <a:solidFill>
                  <a:srgbClr val="2B2B2B"/>
                </a:solidFill>
                <a:latin typeface="Malgun Gothic"/>
                <a:ea typeface="Malgun Gothic"/>
                <a:cs typeface="Malgun Gothic"/>
              </a:rPr>
              <a:t>핵심: 단순 '검사기'가 아니라, </a:t>
            </a:r>
            <a:r>
              <a:rPr sz="1700" b="1" i="0">
                <a:solidFill>
                  <a:srgbClr val="76B900"/>
                </a:solidFill>
                <a:latin typeface="Malgun Gothic"/>
                <a:ea typeface="Malgun Gothic"/>
                <a:cs typeface="Malgun Gothic"/>
              </a:rPr>
              <a:t>무엇을 할지 결정하는 '에이전트'</a:t>
            </a:r>
            <a:r>
              <a:rPr sz="1700" b="0" i="0">
                <a:solidFill>
                  <a:srgbClr val="2B2B2B"/>
                </a:solidFill>
                <a:latin typeface="Malgun Gothic"/>
                <a:ea typeface="Malgun Gothic"/>
                <a:cs typeface="Malgun Gothic"/>
              </a:rPr>
              <a:t> 라는 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 i="0">
                <a:solidFill>
                  <a:srgbClr val="2B2B2B"/>
                </a:solidFill>
                <a:latin typeface="Malgun Gothic"/>
                <a:ea typeface="Malgun Gothic"/>
                <a:cs typeface="Malgun Gothic"/>
              </a:rPr>
              <a:t>데모 시나리오 — 동작 흐름</a:t>
            </a:r>
          </a:p>
          <a:p>
            <a:r>
              <a:rPr sz="1300" b="1" i="0">
                <a:solidFill>
                  <a:srgbClr val="76B900"/>
                </a:solidFill>
                <a:latin typeface="Malgun Gothic"/>
                <a:ea typeface="Malgun Gothic"/>
                <a:cs typeface="Malgun Gothic"/>
              </a:rPr>
              <a:t>Perception → Decision →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707070"/>
                </a:solidFill>
                <a:latin typeface="Malgun Gothic"/>
                <a:ea typeface="Malgun Gothic"/>
                <a:cs typeface="Malgun Gothic"/>
              </a:rPr>
              <a:t>VPK  ·  PLM기술팀  김성훈</a:t>
            </a:r>
          </a:p>
        </p:txBody>
      </p:sp>
      <p:pic>
        <p:nvPicPr>
          <p:cNvPr id="5" name="Picture 4" descr="demo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10881360" cy="589753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 i="0">
                <a:solidFill>
                  <a:srgbClr val="2B2B2B"/>
                </a:solidFill>
                <a:latin typeface="Malgun Gothic"/>
                <a:ea typeface="Malgun Gothic"/>
                <a:cs typeface="Malgun Gothic"/>
              </a:rPr>
              <a:t>핵심 차별점 — 합성 데이터</a:t>
            </a:r>
          </a:p>
          <a:p>
            <a:r>
              <a:rPr sz="1300" b="1" i="0">
                <a:solidFill>
                  <a:srgbClr val="76B900"/>
                </a:solidFill>
                <a:latin typeface="Malgun Gothic"/>
                <a:ea typeface="Malgun Gothic"/>
                <a:cs typeface="Malgun Gothic"/>
              </a:rPr>
              <a:t>Synthetic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707070"/>
                </a:solidFill>
                <a:latin typeface="Malgun Gothic"/>
                <a:ea typeface="Malgun Gothic"/>
                <a:cs typeface="Malgun Gothic"/>
              </a:rPr>
              <a:t>VPK  ·  PLM기술팀  김성훈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 i="0">
                <a:solidFill>
                  <a:srgbClr val="2B2B2B"/>
                </a:solidFill>
                <a:latin typeface="Malgun Gothic"/>
                <a:ea typeface="Malgun Gothic"/>
                <a:cs typeface="Malgun Gothic"/>
              </a:rPr>
              <a:t>현실 이상탐지 AI의 최대 벽 = </a:t>
            </a:r>
            <a:r>
              <a:rPr sz="1600" b="1" i="0">
                <a:solidFill>
                  <a:srgbClr val="C0392B"/>
                </a:solidFill>
                <a:latin typeface="Malgun Gothic"/>
                <a:ea typeface="Malgun Gothic"/>
                <a:cs typeface="Malgun Gothic"/>
              </a:rPr>
              <a:t>'이상 데이터가 없다'</a:t>
            </a:r>
            <a:r>
              <a:rPr sz="1600" b="0" i="0">
                <a:solidFill>
                  <a:srgbClr val="2B2B2B"/>
                </a:solidFill>
                <a:latin typeface="Malgun Gothic"/>
                <a:ea typeface="Malgun Gothic"/>
                <a:cs typeface="Malgun Gothic"/>
              </a:rPr>
              <a:t> (드물고·비싸고·라벨링 어려움)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515600" cy="914400"/>
          </a:xfrm>
          <a:prstGeom prst="rect">
            <a:avLst/>
          </a:prstGeom>
          <a:solidFill>
            <a:srgbClr val="F3F7EA"/>
          </a:solidFill>
          <a:ln w="19050">
            <a:solidFill>
              <a:srgbClr val="76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560320"/>
            <a:ext cx="9966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800" b="1" i="0">
                <a:solidFill>
                  <a:srgbClr val="2B2B2B"/>
                </a:solidFill>
                <a:latin typeface="Malgun Gothic"/>
                <a:ea typeface="Malgun Gothic"/>
                <a:cs typeface="Malgun Gothic"/>
              </a:rPr>
              <a:t>트윈 안에서 이상 상황을 무한히 합성해 AI를 학습시킨다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57600"/>
            <a:ext cx="109728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500" b="1" i="0">
                <a:solidFill>
                  <a:srgbClr val="76B900"/>
                </a:solidFill>
                <a:latin typeface="Malgun Gothic"/>
                <a:ea typeface="Malgun Gothic"/>
                <a:cs typeface="Malgun Gothic"/>
              </a:rPr>
              <a:t>■ </a:t>
            </a:r>
            <a:r>
              <a:rPr sz="1500" b="1" i="0">
                <a:solidFill>
                  <a:srgbClr val="2B2B2B"/>
                </a:solidFill>
                <a:latin typeface="Malgun Gothic"/>
                <a:ea typeface="Malgun Gothic"/>
                <a:cs typeface="Malgun Gothic"/>
              </a:rPr>
              <a:t>트윈 자산이 '예쁜 3D' → 'AI 학습 데이터 공장'으로 격상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76B900"/>
                </a:solidFill>
                <a:latin typeface="Malgun Gothic"/>
                <a:ea typeface="Malgun Gothic"/>
                <a:cs typeface="Malgun Gothic"/>
              </a:rPr>
              <a:t>■ </a:t>
            </a:r>
            <a:r>
              <a:rPr sz="1500" b="1" i="0">
                <a:solidFill>
                  <a:srgbClr val="2B2B2B"/>
                </a:solidFill>
                <a:latin typeface="Malgun Gothic"/>
                <a:ea typeface="Malgun Gothic"/>
                <a:cs typeface="Malgun Gothic"/>
              </a:rPr>
              <a:t>디지털트윈팀의 성과 가치를 함께 키우는 협업 구조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76B900"/>
                </a:solidFill>
                <a:latin typeface="Malgun Gothic"/>
                <a:ea typeface="Malgun Gothic"/>
                <a:cs typeface="Malgun Gothic"/>
              </a:rPr>
              <a:t>■ </a:t>
            </a:r>
            <a:r>
              <a:rPr sz="1500" b="1" i="0">
                <a:solidFill>
                  <a:srgbClr val="2B2B2B"/>
                </a:solidFill>
                <a:latin typeface="Malgun Gothic"/>
                <a:ea typeface="Malgun Gothic"/>
                <a:cs typeface="Malgun Gothic"/>
              </a:rPr>
              <a:t>NVIDIA Physical AI 표준 전략(synthetic data → 현실 적용) 그대로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 i="0">
                <a:solidFill>
                  <a:srgbClr val="2B2B2B"/>
                </a:solidFill>
                <a:latin typeface="Malgun Gothic"/>
                <a:ea typeface="Malgun Gothic"/>
                <a:cs typeface="Malgun Gothic"/>
              </a:rPr>
              <a:t>기대 효과</a:t>
            </a:r>
          </a:p>
          <a:p>
            <a:r>
              <a:rPr sz="1300" b="1" i="0">
                <a:solidFill>
                  <a:srgbClr val="76B900"/>
                </a:solidFill>
                <a:latin typeface="Malgun Gothic"/>
                <a:ea typeface="Malgun Gothic"/>
                <a:cs typeface="Malgun Gothic"/>
              </a:rPr>
              <a:t>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707070"/>
                </a:solidFill>
                <a:latin typeface="Malgun Gothic"/>
                <a:ea typeface="Malgun Gothic"/>
                <a:cs typeface="Malgun Gothic"/>
              </a:rPr>
              <a:t>VPK  ·  PLM기술팀  김성훈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920240"/>
          <a:ext cx="10515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8686800"/>
              </a:tblGrid>
              <a:tr h="59436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구분</a:t>
                      </a:r>
                    </a:p>
                  </a:txBody>
                  <a:tcPr anchor="ctr" marT="38100" marB="38100">
                    <a:solidFill>
                      <a:srgbClr val="76B9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내용</a:t>
                      </a:r>
                    </a:p>
                  </a:txBody>
                  <a:tcPr anchor="ctr" marT="38100" marB="38100">
                    <a:solidFill>
                      <a:srgbClr val="76B900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B2B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단기</a:t>
                      </a:r>
                    </a:p>
                  </a:txBody>
                  <a:tcPr anchor="ctr" marT="38100" marB="38100">
                    <a:solidFill>
                      <a:srgbClr val="F3F7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B2B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회사 내 Physical AI 실증 역량 확보 (직접 구축한 PoC 보유)</a:t>
                      </a:r>
                    </a:p>
                  </a:txBody>
                  <a:tcPr anchor="ctr" marT="38100" marB="38100">
                    <a:solidFill>
                      <a:srgbClr val="F3F7E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B2B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중기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B2B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실제 라인 카메라 연결 시 품질 이상 자동 감지·대응으로 확장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B2B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전략</a:t>
                      </a:r>
                    </a:p>
                  </a:txBody>
                  <a:tcPr anchor="ctr" marT="38100" marB="38100">
                    <a:solidFill>
                      <a:srgbClr val="F3F7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B2B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'트윈을 가진 회사' → '트윈 위에서 지능이 도는 회사'로 포지셔닝</a:t>
                      </a:r>
                    </a:p>
                  </a:txBody>
                  <a:tcPr anchor="ctr" marT="38100" marB="38100">
                    <a:solidFill>
                      <a:srgbClr val="F3F7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 i="0">
                <a:solidFill>
                  <a:srgbClr val="2B2B2B"/>
                </a:solidFill>
                <a:latin typeface="Malgun Gothic"/>
                <a:ea typeface="Malgun Gothic"/>
                <a:cs typeface="Malgun Gothic"/>
              </a:rPr>
              <a:t>6개월 로드맵</a:t>
            </a:r>
          </a:p>
          <a:p>
            <a:r>
              <a:rPr sz="1300" b="1" i="0">
                <a:solidFill>
                  <a:srgbClr val="76B900"/>
                </a:solidFill>
                <a:latin typeface="Malgun Gothic"/>
                <a:ea typeface="Malgun Gothic"/>
                <a:cs typeface="Malgun Gothic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707070"/>
                </a:solidFill>
                <a:latin typeface="Malgun Gothic"/>
                <a:ea typeface="Malgun Gothic"/>
                <a:cs typeface="Malgun Gothic"/>
              </a:rPr>
              <a:t>VPK  ·  PLM기술팀  김성훈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88136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4206240"/>
                <a:gridCol w="5212080"/>
              </a:tblGrid>
              <a:tr h="56170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기간</a:t>
                      </a:r>
                    </a:p>
                  </a:txBody>
                  <a:tcPr anchor="ctr" marT="38100" marB="38100">
                    <a:solidFill>
                      <a:srgbClr val="76B9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목표</a:t>
                      </a:r>
                    </a:p>
                  </a:txBody>
                  <a:tcPr anchor="ctr" marT="38100" marB="38100">
                    <a:solidFill>
                      <a:srgbClr val="76B9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산출물</a:t>
                      </a:r>
                    </a:p>
                  </a:txBody>
                  <a:tcPr anchor="ctr" marT="38100" marB="38100">
                    <a:solidFill>
                      <a:srgbClr val="76B900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B2B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1개월</a:t>
                      </a:r>
                    </a:p>
                  </a:txBody>
                  <a:tcPr anchor="ctr" marT="38100" marB="38100">
                    <a:solidFill>
                      <a:srgbClr val="F3F7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B2B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환경·기초 (Isaac Sim, USD)</a:t>
                      </a:r>
                    </a:p>
                  </a:txBody>
                  <a:tcPr anchor="ctr" marT="38100" marB="38100">
                    <a:solidFill>
                      <a:srgbClr val="F3F7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B2B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조립 제품 가상 씬 + 카메라</a:t>
                      </a:r>
                    </a:p>
                  </a:txBody>
                  <a:tcPr anchor="ctr" marT="38100" marB="38100">
                    <a:solidFill>
                      <a:srgbClr val="F3F7EA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B2B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2개월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B2B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합성 데이터 생성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B2B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정상/이상 학습 데이터셋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B2B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3개월</a:t>
                      </a:r>
                    </a:p>
                  </a:txBody>
                  <a:tcPr anchor="ctr" marT="38100" marB="38100">
                    <a:solidFill>
                      <a:srgbClr val="F3F7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B2B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이상탐지 모델</a:t>
                      </a:r>
                    </a:p>
                  </a:txBody>
                  <a:tcPr anchor="ctr" marT="38100" marB="38100">
                    <a:solidFill>
                      <a:srgbClr val="F3F7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B2B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이상을 잡아내는 AI (최소 성과)</a:t>
                      </a:r>
                    </a:p>
                  </a:txBody>
                  <a:tcPr anchor="ctr" marT="38100" marB="38100">
                    <a:solidFill>
                      <a:srgbClr val="F3F7EA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B2B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4개월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B2B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대응 에이전트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B2B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감지→판단→대응 엔드투엔드 시연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B2B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5개월</a:t>
                      </a:r>
                    </a:p>
                  </a:txBody>
                  <a:tcPr anchor="ctr" marT="38100" marB="38100">
                    <a:solidFill>
                      <a:srgbClr val="F3F7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B2B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고도화 (실라인 연결·안정화)</a:t>
                      </a:r>
                    </a:p>
                  </a:txBody>
                  <a:tcPr anchor="ctr" marT="38100" marB="38100">
                    <a:solidFill>
                      <a:srgbClr val="F3F7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B2B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데모 품질 향상</a:t>
                      </a:r>
                    </a:p>
                  </a:txBody>
                  <a:tcPr anchor="ctr" marT="38100" marB="38100">
                    <a:solidFill>
                      <a:srgbClr val="F3F7EA"/>
                    </a:solidFill>
                  </a:tcPr>
                </a:tc>
              </a:tr>
              <a:tr h="561708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B2B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6개월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B2B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시연 패키지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2B2B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30초 데모 영상 + 발표 자료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76072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76B900"/>
                </a:solidFill>
                <a:latin typeface="Malgun Gothic"/>
                <a:ea typeface="Malgun Gothic"/>
                <a:cs typeface="Malgun Gothic"/>
              </a:rPr>
              <a:t>3개월 차에 '보여줄 결과', 4개월 차에 '에이전트' 완성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 i="0">
                <a:solidFill>
                  <a:srgbClr val="2B2B2B"/>
                </a:solidFill>
                <a:latin typeface="Malgun Gothic"/>
                <a:ea typeface="Malgun Gothic"/>
                <a:cs typeface="Malgun Gothic"/>
              </a:rPr>
              <a:t>요청 사항</a:t>
            </a:r>
          </a:p>
          <a:p>
            <a:r>
              <a:rPr sz="1300" b="1" i="0">
                <a:solidFill>
                  <a:srgbClr val="76B900"/>
                </a:solidFill>
                <a:latin typeface="Malgun Gothic"/>
                <a:ea typeface="Malgun Gothic"/>
                <a:cs typeface="Malgun Gothic"/>
              </a:rPr>
              <a:t>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707070"/>
                </a:solidFill>
                <a:latin typeface="Malgun Gothic"/>
                <a:ea typeface="Malgun Gothic"/>
                <a:cs typeface="Malgun Gothic"/>
              </a:rPr>
              <a:t>VPK  ·  PLM기술팀  김성훈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728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800"/>
              </a:spcAft>
            </a:pPr>
            <a:r>
              <a:rPr sz="1900" b="1" i="0">
                <a:solidFill>
                  <a:srgbClr val="76B900"/>
                </a:solidFill>
                <a:latin typeface="Malgun Gothic"/>
                <a:ea typeface="Malgun Gothic"/>
                <a:cs typeface="Malgun Gothic"/>
              </a:rPr>
              <a:t>■ </a:t>
            </a:r>
            <a:r>
              <a:rPr sz="1900" b="1" i="0">
                <a:solidFill>
                  <a:srgbClr val="2B2B2B"/>
                </a:solidFill>
                <a:latin typeface="Malgun Gothic"/>
                <a:ea typeface="Malgun Gothic"/>
                <a:cs typeface="Malgun Gothic"/>
              </a:rPr>
              <a:t>디지털트윈팀과의 트윈 자산(조립 라인 USD) 공유 협조</a:t>
            </a:r>
          </a:p>
          <a:p>
            <a:pPr>
              <a:spcAft>
                <a:spcPts val="1800"/>
              </a:spcAft>
            </a:pPr>
            <a:r>
              <a:rPr sz="1900" b="1" i="0">
                <a:solidFill>
                  <a:srgbClr val="76B900"/>
                </a:solidFill>
                <a:latin typeface="Malgun Gothic"/>
                <a:ea typeface="Malgun Gothic"/>
                <a:cs typeface="Malgun Gothic"/>
              </a:rPr>
              <a:t>■ </a:t>
            </a:r>
            <a:r>
              <a:rPr sz="1900" b="1" i="0">
                <a:solidFill>
                  <a:srgbClr val="2B2B2B"/>
                </a:solidFill>
                <a:latin typeface="Malgun Gothic"/>
                <a:ea typeface="Malgun Gothic"/>
                <a:cs typeface="Malgun Gothic"/>
              </a:rPr>
              <a:t>RTX GPU 워크스테이션 1대 (Isaac Sim 구동 필수 사양)</a:t>
            </a:r>
          </a:p>
          <a:p>
            <a:pPr>
              <a:spcAft>
                <a:spcPts val="1800"/>
              </a:spcAft>
            </a:pPr>
            <a:r>
              <a:rPr sz="1900" b="1" i="0">
                <a:solidFill>
                  <a:srgbClr val="76B900"/>
                </a:solidFill>
                <a:latin typeface="Malgun Gothic"/>
                <a:ea typeface="Malgun Gothic"/>
                <a:cs typeface="Malgun Gothic"/>
              </a:rPr>
              <a:t>■ </a:t>
            </a:r>
            <a:r>
              <a:rPr sz="1900" b="1" i="0">
                <a:solidFill>
                  <a:srgbClr val="2B2B2B"/>
                </a:solidFill>
                <a:latin typeface="Malgun Gothic"/>
                <a:ea typeface="Malgun Gothic"/>
                <a:cs typeface="Malgun Gothic"/>
              </a:rPr>
              <a:t>6개월간 본 PoC에 대한 시간 배정 및 추진 승인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846320"/>
            <a:ext cx="10515600" cy="100584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937760"/>
            <a:ext cx="9966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"이상 데이터가 없어 막히는 문제를, 우리 트윈으로 만들어 AI가 스스로 판단·대응하게 합니다."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